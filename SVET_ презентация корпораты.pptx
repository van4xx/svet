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PR Менеджер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30T14:51:07.736">
    <p:pos x="6000" y="0"/>
    <p:text>макеты Атлантида (женщины с рогами) https://drive.google.com/drive/folders/1TDRX8kvMnVjBR6ZvpVc0hNzws-_0dcW7?usp=sharing</p:text>
  </p:cm>
  <p:cm authorId="0" idx="2" dt="2026-04-30T14:54:19.447">
    <p:pos x="6000" y="100"/>
    <p:text>ЛОГО шоу и детали оформления: https://drive.google.com/drive/folders/1Da0o0sIJF-mfxh5_ASiPp-YuecK7a1v4?usp=sharing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79e34def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79e34def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b15e5e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b15e5e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b15e5e5f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b15e5e5f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79e34def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79e34de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a457573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a457573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b15e5e5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b15e5e5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15e5e5f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15e5e5f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4575738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a4575738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b15e5e5f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b15e5e5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b15e5e5f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b15e5e5f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15e5e5f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b15e5e5f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b15e5e5f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b15e5e5f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b15e5e5f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b15e5e5f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b15e5e5f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b15e5e5f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4575738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4575738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4575738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a4575738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a4575738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a4575738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4575738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a4575738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4575738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a4575738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a4575738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a4575738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a4575738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a4575738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5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05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0" y="440000"/>
            <a:ext cx="5047500" cy="4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ГАСТРОНОМИЧЕСКИЙ ТЕАТР SVET - пространство, где блюда высокой кухни становятся частью шоу и раскрывают сюжет в необычных сочетаниях вкусов.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Панорамные проекции, таинственная театральная атмосфера, музыкальные номера с живым объемным звуком усиливают впечатления гостей и дарят главное, что можно ожидать от вечера — незабываемые впечатления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/>
              <a:t>Выход в SVET — ваше яркое гастрономическое открытие в Москве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ru"/>
            </a:br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300" y="61900"/>
            <a:ext cx="3791699" cy="454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177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676700" y="1399100"/>
            <a:ext cx="36681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КОНЦЕПЦИЯ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Гастрономический театр SVET —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это философия созидания и гедонизма.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Режиссерская постановка с проекциями 360°,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живые выступления певицы и гастрономический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ужин, где каждое блюдо — отражение сюжетной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линии спектакля.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SVET дарит зрителю уникальный опыт,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погружая в мир скрытых фантазий и удовольствий.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0" y="0"/>
            <a:ext cx="562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SVET </a:t>
            </a: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</a:rPr>
              <a:t>—</a:t>
            </a:r>
            <a:r>
              <a:rPr lang="ru" sz="1800">
                <a:solidFill>
                  <a:schemeClr val="dk2"/>
                </a:solidFill>
              </a:rPr>
              <a:t> это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349400" y="852100"/>
            <a:ext cx="8045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готовый сценарий вечера в формате fine dining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объединение театра, технологий (свет, звук, проекции), живого вокала и высокой кухни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3 гастрономических спектакля в репертуаре и 2 часа полного погружения в шоу для каждого гостя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гастрономические сеты (основной и веганский) от концепт-шефа Станислава Песоцкого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высокая кухня направления нордик: современная северная кухня. </a:t>
            </a:r>
            <a:r>
              <a:rPr lang="ru" sz="1800">
                <a:solidFill>
                  <a:schemeClr val="dk2"/>
                </a:solidFill>
              </a:rPr>
              <a:t>Чистые</a:t>
            </a:r>
            <a:r>
              <a:rPr lang="ru" sz="1800">
                <a:solidFill>
                  <a:schemeClr val="dk2"/>
                </a:solidFill>
              </a:rPr>
              <a:t> вкусы, знакомые продукты, необычные сочетания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продуманные пейринги для каждого сета:винный, коктейльный и безалкогольный коктейльный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973325" y="4324525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SVET </a:t>
            </a: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</a:rPr>
              <a:t>—</a:t>
            </a:r>
            <a:r>
              <a:rPr lang="ru" sz="1800">
                <a:solidFill>
                  <a:schemeClr val="dk2"/>
                </a:solidFill>
              </a:rPr>
              <a:t> готовый сценарий вашего вечера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103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Повод посетить SVET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735425"/>
            <a:ext cx="3945300" cy="3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B2C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необычный формат ужина для двоих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отпраздновать день рождения, свадьбу, другую знаковую дату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получить новый гастрономический опыт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провести бизнес-ужин, чтобы впечатлить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часть туристического маршрута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5080550" y="735400"/>
            <a:ext cx="3812400" cy="3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B2B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провести частный ужин для партнеров или топ-менеджеров компании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готовый сценарий вечера для корпоратива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презентация бренда\продукта с брендингом шоу и пространства зала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14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58575" y="0"/>
            <a:ext cx="47352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Продуктовая уникалность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объединение</a:t>
            </a:r>
            <a:r>
              <a:rPr lang="ru">
                <a:solidFill>
                  <a:schemeClr val="dk1"/>
                </a:solidFill>
              </a:rPr>
              <a:t> форматов: театр, проекционное шоу, высокая кухня,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живой вокал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высочайший уровень сервиса: от первого контакта с гостем до прощания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акцент на деталях: от визуального оформления каждого блюда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до продуманного облика персонала и всей концепции шоу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технологичное оборудование, позволяющее создавать самые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смелые интеграции в проекцию шоу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индивидуальный подход: веганский сет, замена блюд с ориентацией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на особенности запроса каждого гостя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5885250" y="126875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МИССИЯ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БРЕНДА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Миссия SVET — создать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пространство, где гастрономия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становится языком эстетического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переживания. А вкус, звук,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свет и визуальное искусство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превращаются в единое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чувственное впечатление,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особенное для каждого.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945550" cy="499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120">
                <a:solidFill>
                  <a:schemeClr val="lt1"/>
                </a:solidFill>
              </a:rPr>
              <a:t>Камерный зал SVET вмещает 32 гостя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120">
                <a:solidFill>
                  <a:schemeClr val="lt1"/>
                </a:solidFill>
              </a:rPr>
              <a:t>Максимальная посадка - 34 гостя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120">
                <a:solidFill>
                  <a:schemeClr val="lt1"/>
                </a:solidFill>
              </a:rPr>
              <a:t>Комфортные вращающиеся кресла позволяют видеть проекции на всех стенах и индивидуальные проекции на столах.</a:t>
            </a:r>
            <a:endParaRPr sz="21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92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GUILTY шоу (16+)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17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1020"/>
              <a:t>GUILTY SHOW — премьерный спектакль гастрономического театра SVET.</a:t>
            </a:r>
            <a:endParaRPr sz="10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1020"/>
              <a:t>Зрителю предлагают под другим углом посмотреть на соблазны современного мира — власть, деньги, секс,</a:t>
            </a:r>
            <a:endParaRPr sz="10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1020"/>
              <a:t>праздность, эго.</a:t>
            </a:r>
            <a:endParaRPr sz="10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1100"/>
              <a:t>Каждая глава «GUILTY SHOW» приурочена к одной из слабостей, которая раскрывается через театральное искусство и подачу блюда с возможностью винного или коктейльного пейринга.  </a:t>
            </a:r>
            <a:endParaRPr sz="3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020"/>
              <a:t>Завершая путешествие по главам, гости уносят с собой яркие впечатления и личные переживания от увиденного.</a:t>
            </a:r>
            <a:endParaRPr sz="10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020"/>
              <a:t>Спектакль GUILTY — это</a:t>
            </a:r>
            <a:endParaRPr sz="10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020"/>
              <a:t>2 часа гастрономического спектакля</a:t>
            </a:r>
            <a:endParaRPr sz="10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020"/>
              <a:t>гастрономический сет из шести блюд от концепт-шефа Станислава Песоцкого</a:t>
            </a:r>
            <a:endParaRPr sz="10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100"/>
              <a:t> amuse-Bouche (приветственная закуска) </a:t>
            </a:r>
            <a:r>
              <a:rPr lang="ru" sz="1100">
                <a:solidFill>
                  <a:schemeClr val="dk1"/>
                </a:solidFill>
              </a:rPr>
              <a:t> в начале вечера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100">
                <a:solidFill>
                  <a:schemeClr val="dk1"/>
                </a:solidFill>
              </a:rPr>
              <a:t>приветственный напиток на основе белого вина (алкогольный\безалкогольный)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Живое выступление певицы на протяжении вечера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0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4" y="0"/>
            <a:ext cx="898981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-4880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АТЛАНТИДА.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ТАЙНА ШЕСТИ МИРОВ. 6+</a:t>
            </a:r>
            <a:endParaRPr/>
          </a:p>
        </p:txBody>
      </p:sp>
      <p:sp>
        <p:nvSpPr>
          <p:cNvPr id="126" name="Google Shape;126;p25"/>
          <p:cNvSpPr txBox="1"/>
          <p:nvPr/>
        </p:nvSpPr>
        <p:spPr>
          <a:xfrm>
            <a:off x="175700" y="823250"/>
            <a:ext cx="4471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— первый в мире гастрономический спектакль, в котором режиссер, искусственный интеллект и шеф-повар становятся соавторами новой вселенной. Шесть исчезнувших цивилизаций,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семь блюд и живой вокал меняют представление о реальности.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Лес, Огонь, Воздух, Вода, Механика и Земля оживают на проекции 360 в течение всего спектакля. Гастрономический сет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от концепт-шефа Станислава Песоцкого — кулинарная одиссея, где каждое блюдо становится метафорой одного из миров.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6" y="0"/>
            <a:ext cx="908836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ДЕТИ в космосе 5+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Первый детский гастрономический спектакль на борту космического лайнера.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Спектакль длительностью один час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Три подачи блюд, которые вызовут восторг у детей и родителей!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" y="66675"/>
            <a:ext cx="8659327" cy="4838699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" name="Google Shape;145;p28"/>
          <p:cNvSpPr/>
          <p:nvPr/>
        </p:nvSpPr>
        <p:spPr>
          <a:xfrm>
            <a:off x="430275" y="1562275"/>
            <a:ext cx="6600900" cy="135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Сотрудничества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0" y="0"/>
            <a:ext cx="562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Вечер под закрытие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244025" y="461700"/>
            <a:ext cx="82782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Условия закрытия - выкуп</a:t>
            </a:r>
            <a:r>
              <a:rPr lang="ru" sz="1600">
                <a:solidFill>
                  <a:schemeClr val="dk1"/>
                </a:solidFill>
              </a:rPr>
              <a:t> 32 билетов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Стоимость закрытия варьируется от дня проведения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Минимальная цена билета - 21 000 р.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Максимальная - 25 000 р.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Минимальная сумма депозита на напитки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Дневной сервис 200 000р.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Вечерний сервис 250 000р.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Сервисный сбор: 10% от итоговой суммы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Пробкового сбора нет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В СТОИМОСТЬ ВХОДИТ </a:t>
            </a:r>
            <a:endParaRPr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Шоу-программа длительностью 2 часа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Гастрономический сет из 6 блюд и приветственная закуска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Выступление певицы во время вечера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Сопровождение вечера персоналом SVET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116500" y="996325"/>
            <a:ext cx="376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оформление красной ковровой дорожки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подвесные украшения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украшения вдоль дорожки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 небольшой баннер\фотозона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брендирование боковых штор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- </a:t>
            </a:r>
            <a:r>
              <a:rPr lang="ru"/>
              <a:t>оформление зоны перед входом в зал: 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вывод проекции на стену логотипа бренда\короткого ролика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установка бренд-вола\фотозоны</a:t>
            </a:r>
            <a:endParaRPr/>
          </a:p>
        </p:txBody>
      </p:sp>
      <p:sp>
        <p:nvSpPr>
          <p:cNvPr id="157" name="Google Shape;157;p30"/>
          <p:cNvSpPr txBox="1"/>
          <p:nvPr>
            <p:ph type="title"/>
          </p:nvPr>
        </p:nvSpPr>
        <p:spPr>
          <a:xfrm>
            <a:off x="0" y="0"/>
            <a:ext cx="8520600" cy="3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ВОЗМОЖНОСТИ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Оформление входной группы</a:t>
            </a:r>
            <a:endParaRPr sz="2467"/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250" y="458725"/>
            <a:ext cx="3222998" cy="3223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295" y="1330225"/>
            <a:ext cx="2212951" cy="295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0475" y="2373925"/>
            <a:ext cx="2683974" cy="268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23925"/>
            <a:ext cx="4526250" cy="254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/>
          <p:nvPr/>
        </p:nvSpPr>
        <p:spPr>
          <a:xfrm>
            <a:off x="0" y="0"/>
            <a:ext cx="562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</a:rPr>
              <a:t>Дополнтьельные возможности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250" y="2423925"/>
            <a:ext cx="4526285" cy="254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1"/>
          <p:cNvSpPr txBox="1"/>
          <p:nvPr>
            <p:ph type="title"/>
          </p:nvPr>
        </p:nvSpPr>
        <p:spPr>
          <a:xfrm>
            <a:off x="-476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ВОЗМОЖНОСТИ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67"/>
              <a:t>Вывод вашего медиконтента на стены</a:t>
            </a:r>
            <a:endParaRPr sz="2467"/>
          </a:p>
        </p:txBody>
      </p:sp>
      <p:sp>
        <p:nvSpPr>
          <p:cNvPr id="169" name="Google Shape;169;p31"/>
          <p:cNvSpPr txBox="1"/>
          <p:nvPr/>
        </p:nvSpPr>
        <p:spPr>
          <a:xfrm>
            <a:off x="47625" y="1052675"/>
            <a:ext cx="90048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интеграция вашего бренда в проекции 360 по всему залу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ru" sz="1800">
                <a:solidFill>
                  <a:schemeClr val="dk2"/>
                </a:solidFill>
              </a:rPr>
              <a:t>продакшн контента возможен через подрядчиков SVET </a:t>
            </a:r>
            <a:br>
              <a:rPr lang="ru" sz="1800">
                <a:solidFill>
                  <a:schemeClr val="dk2"/>
                </a:solidFill>
              </a:rPr>
            </a:br>
            <a:r>
              <a:rPr lang="ru" sz="1500">
                <a:solidFill>
                  <a:schemeClr val="dk2"/>
                </a:solidFill>
              </a:rPr>
              <a:t>производство простого контента от 350 000 р.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производство контента со сложной анимацией от 450 000 р.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/>
        </p:nvSpPr>
        <p:spPr>
          <a:xfrm>
            <a:off x="0" y="572700"/>
            <a:ext cx="8091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ru" sz="1500">
                <a:solidFill>
                  <a:schemeClr val="dk2"/>
                </a:solidFill>
                <a:highlight>
                  <a:schemeClr val="lt1"/>
                </a:highlight>
              </a:rPr>
              <a:t>индивидуальные проекции на столах с вашим логотипом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highlight>
                  <a:schemeClr val="lt1"/>
                </a:highlight>
              </a:rPr>
              <a:t>Статичное изображение или короткий ролик (до 30 сек), который будет на повторе воспроизводится на столах во время welcome-части и по завершении шоу.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3">
            <a:alphaModFix/>
          </a:blip>
          <a:srcRect b="22820" l="0" r="0" t="10766"/>
          <a:stretch/>
        </p:blipFill>
        <p:spPr>
          <a:xfrm>
            <a:off x="0" y="1727525"/>
            <a:ext cx="2893200" cy="34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 txBox="1"/>
          <p:nvPr>
            <p:ph type="title"/>
          </p:nvPr>
        </p:nvSpPr>
        <p:spPr>
          <a:xfrm>
            <a:off x="-476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ВОЗМОЖНОСТИ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67"/>
              <a:t>Вывод вашего медиконтента на столы</a:t>
            </a:r>
            <a:endParaRPr sz="2467"/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5600" y="2156700"/>
            <a:ext cx="5333500" cy="28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Индивидуальные проекции имен гостей на столы</a:t>
            </a:r>
            <a:endParaRPr/>
          </a:p>
        </p:txBody>
      </p:sp>
      <p:sp>
        <p:nvSpPr>
          <p:cNvPr id="183" name="Google Shape;183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ВОЗМОЖНОСТИ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595"/>
              <a:buFont typeface="Arial"/>
              <a:buNone/>
            </a:pPr>
            <a:r>
              <a:rPr lang="ru"/>
              <a:t>Вывод имен на столах</a:t>
            </a:r>
            <a:endParaRPr sz="2467"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7575"/>
            <a:ext cx="2776320" cy="311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120" y="1877575"/>
            <a:ext cx="5515650" cy="311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Проведение фуршета перед мероприятием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595"/>
              <a:buFont typeface="Arial"/>
              <a:buNone/>
            </a:pPr>
            <a:r>
              <a:t/>
            </a:r>
            <a:endParaRPr sz="2467"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75" y="1223450"/>
            <a:ext cx="3647524" cy="36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